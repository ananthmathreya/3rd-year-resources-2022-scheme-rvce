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1" r:id="rId6"/>
    <p:sldId id="262" r:id="rId7"/>
    <p:sldId id="260" r:id="rId8"/>
    <p:sldId id="263" r:id="rId9"/>
    <p:sldId id="264" r:id="rId10"/>
    <p:sldId id="267" r:id="rId11"/>
    <p:sldId id="265" r:id="rId12"/>
    <p:sldId id="266"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7" d="100"/>
          <a:sy n="67" d="100"/>
        </p:scale>
        <p:origin x="64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7-20T05:48:54.053"/>
    </inkml:context>
    <inkml:brush xml:id="br0">
      <inkml:brushProperty name="width" value="0.05" units="cm"/>
      <inkml:brushProperty name="height" value="0.05" units="cm"/>
    </inkml:brush>
  </inkml:definitions>
  <inkml:trace contextRef="#ctx0" brushRef="#br0">1 9 8580,'0'0'0,"0"-6"-2273,7 4-656</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7-20T06:23:37.480"/>
    </inkml:context>
    <inkml:brush xml:id="br0">
      <inkml:brushProperty name="width" value="0.05" units="cm"/>
      <inkml:brushProperty name="height" value="0.05" units="cm"/>
      <inkml:brushProperty name="color" value="#E71224"/>
    </inkml:brush>
  </inkml:definitions>
  <inkml:trace contextRef="#ctx0" brushRef="#br0">31 1 10085,'0'0'3281,"3"0"-2128,-1 0-1281,-19 0-4451,-2 0 17</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7-20T06:23:45.872"/>
    </inkml:context>
    <inkml:brush xml:id="br0">
      <inkml:brushProperty name="width" value="0.05" units="cm"/>
      <inkml:brushProperty name="height" value="0.05" units="cm"/>
      <inkml:brushProperty name="color" value="#E71224"/>
    </inkml:brush>
  </inkml:definitions>
  <inkml:trace contextRef="#ctx0" brushRef="#br0">0 20 9524,'0'0'1777,"2"-15"-1969,8 15-160,2-3-464,-5 3-273,-2 0 33,-3-2-705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7-20T05:48:46.384"/>
    </inkml:context>
    <inkml:brush xml:id="br0">
      <inkml:brushProperty name="width" value="0.05" units="cm"/>
      <inkml:brushProperty name="height" value="0.05" units="cm"/>
      <inkml:brushProperty name="ignorePressure" value="1"/>
    </inkml:brush>
  </inkml:definitions>
  <inkml:trace contextRef="#ctx0" brushRef="#br0">0 1,'0'0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8/1/2021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8/1/2021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8/1/2021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8/1/2021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8/1/2021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8/1/2021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8/1/2021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8/1/2021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8/1/2021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8/1/2021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8/1/2021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8/1/2021</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customXml" Target="../ink/ink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8B76C-62E3-49A3-AB64-93D798AFA502}"/>
              </a:ext>
            </a:extLst>
          </p:cNvPr>
          <p:cNvSpPr>
            <a:spLocks noGrp="1"/>
          </p:cNvSpPr>
          <p:nvPr>
            <p:ph type="ctrTitle"/>
          </p:nvPr>
        </p:nvSpPr>
        <p:spPr/>
        <p:txBody>
          <a:bodyPr/>
          <a:lstStyle/>
          <a:p>
            <a:r>
              <a:rPr lang="en-IN" dirty="0"/>
              <a:t>CODE GENERATION</a:t>
            </a:r>
          </a:p>
        </p:txBody>
      </p:sp>
      <p:sp>
        <p:nvSpPr>
          <p:cNvPr id="3" name="Subtitle 2">
            <a:extLst>
              <a:ext uri="{FF2B5EF4-FFF2-40B4-BE49-F238E27FC236}">
                <a16:creationId xmlns:a16="http://schemas.microsoft.com/office/drawing/2014/main" id="{7E092E62-C1BE-42BA-9C94-FBF74830FCD3}"/>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7450152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E0B41-A2B1-401A-8E9B-17F6E98C7C4E}"/>
              </a:ext>
            </a:extLst>
          </p:cNvPr>
          <p:cNvSpPr>
            <a:spLocks noGrp="1"/>
          </p:cNvSpPr>
          <p:nvPr>
            <p:ph type="title"/>
          </p:nvPr>
        </p:nvSpPr>
        <p:spPr/>
        <p:txBody>
          <a:bodyPr/>
          <a:lstStyle/>
          <a:p>
            <a:r>
              <a:rPr lang="en-IN" dirty="0"/>
              <a:t>Outline</a:t>
            </a:r>
          </a:p>
        </p:txBody>
      </p:sp>
      <p:sp>
        <p:nvSpPr>
          <p:cNvPr id="3" name="Content Placeholder 2">
            <a:extLst>
              <a:ext uri="{FF2B5EF4-FFF2-40B4-BE49-F238E27FC236}">
                <a16:creationId xmlns:a16="http://schemas.microsoft.com/office/drawing/2014/main" id="{C7002576-A373-4685-8DDD-DAA111E3164F}"/>
              </a:ext>
            </a:extLst>
          </p:cNvPr>
          <p:cNvSpPr>
            <a:spLocks noGrp="1"/>
          </p:cNvSpPr>
          <p:nvPr>
            <p:ph idx="1"/>
          </p:nvPr>
        </p:nvSpPr>
        <p:spPr/>
        <p:txBody>
          <a:bodyPr/>
          <a:lstStyle/>
          <a:p>
            <a:pPr eaLnBrk="1" hangingPunct="1"/>
            <a:r>
              <a:rPr lang="en-US" altLang="en-US" dirty="0"/>
              <a:t>Issues in the design of Code Generator</a:t>
            </a:r>
          </a:p>
          <a:p>
            <a:pPr eaLnBrk="1" hangingPunct="1"/>
            <a:r>
              <a:rPr lang="en-US" altLang="en-US" dirty="0"/>
              <a:t>Target language Issues</a:t>
            </a:r>
          </a:p>
          <a:p>
            <a:pPr eaLnBrk="1" hangingPunct="1"/>
            <a:r>
              <a:rPr lang="en-US" altLang="en-US" dirty="0"/>
              <a:t>Addresses in Target Code</a:t>
            </a:r>
          </a:p>
          <a:p>
            <a:endParaRPr lang="en-IN" dirty="0"/>
          </a:p>
        </p:txBody>
      </p:sp>
    </p:spTree>
    <p:extLst>
      <p:ext uri="{BB962C8B-B14F-4D97-AF65-F5344CB8AC3E}">
        <p14:creationId xmlns:p14="http://schemas.microsoft.com/office/powerpoint/2010/main" val="24515857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12C10-03A5-49A1-894D-E93D66F02A4E}"/>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85740C67-519E-4C17-A29E-24A96D04765D}"/>
              </a:ext>
            </a:extLst>
          </p:cNvPr>
          <p:cNvSpPr>
            <a:spLocks noGrp="1"/>
          </p:cNvSpPr>
          <p:nvPr>
            <p:ph idx="1"/>
          </p:nvPr>
        </p:nvSpPr>
        <p:spPr>
          <a:xfrm>
            <a:off x="838200" y="1466850"/>
            <a:ext cx="10515600" cy="4710113"/>
          </a:xfrm>
        </p:spPr>
        <p:txBody>
          <a:bodyPr/>
          <a:lstStyle/>
          <a:p>
            <a:pPr eaLnBrk="1" hangingPunct="1">
              <a:defRPr/>
            </a:pPr>
            <a:r>
              <a:rPr lang="en-US" dirty="0"/>
              <a:t>The final phase of a compiler is code generator</a:t>
            </a:r>
          </a:p>
          <a:p>
            <a:pPr eaLnBrk="1" hangingPunct="1">
              <a:defRPr/>
            </a:pPr>
            <a:r>
              <a:rPr lang="en-US" dirty="0"/>
              <a:t>It receives an intermediate representation (IR) with supplementary information in symbol table</a:t>
            </a:r>
          </a:p>
          <a:p>
            <a:pPr eaLnBrk="1" hangingPunct="1">
              <a:defRPr/>
            </a:pPr>
            <a:r>
              <a:rPr lang="en-US" dirty="0"/>
              <a:t>Produces a semantically equivalent target program</a:t>
            </a:r>
          </a:p>
          <a:p>
            <a:pPr eaLnBrk="1" hangingPunct="1">
              <a:defRPr/>
            </a:pPr>
            <a:r>
              <a:rPr lang="en-US" dirty="0"/>
              <a:t>Code generator main tasks:</a:t>
            </a:r>
          </a:p>
          <a:p>
            <a:pPr lvl="1" eaLnBrk="1" hangingPunct="1">
              <a:defRPr/>
            </a:pPr>
            <a:r>
              <a:rPr lang="en-US" dirty="0"/>
              <a:t>Instruction selection</a:t>
            </a:r>
          </a:p>
          <a:p>
            <a:pPr lvl="1" eaLnBrk="1" hangingPunct="1">
              <a:defRPr/>
            </a:pPr>
            <a:r>
              <a:rPr lang="en-US" dirty="0"/>
              <a:t>Register allocation and assignment</a:t>
            </a:r>
          </a:p>
          <a:p>
            <a:pPr lvl="1" eaLnBrk="1" hangingPunct="1">
              <a:defRPr/>
            </a:pPr>
            <a:r>
              <a:rPr lang="en-US" dirty="0"/>
              <a:t>Instruction ordering</a:t>
            </a:r>
          </a:p>
          <a:p>
            <a:endParaRPr lang="en-IN" dirty="0"/>
          </a:p>
        </p:txBody>
      </p:sp>
      <p:pic>
        <p:nvPicPr>
          <p:cNvPr id="7" name="Picture 6">
            <a:extLst>
              <a:ext uri="{FF2B5EF4-FFF2-40B4-BE49-F238E27FC236}">
                <a16:creationId xmlns:a16="http://schemas.microsoft.com/office/drawing/2014/main" id="{ED787FF4-7364-4DE7-970A-113581E851C5}"/>
              </a:ext>
            </a:extLst>
          </p:cNvPr>
          <p:cNvPicPr>
            <a:picLocks noChangeAspect="1"/>
          </p:cNvPicPr>
          <p:nvPr/>
        </p:nvPicPr>
        <p:blipFill>
          <a:blip r:embed="rId2"/>
          <a:stretch>
            <a:fillRect/>
          </a:stretch>
        </p:blipFill>
        <p:spPr>
          <a:xfrm>
            <a:off x="509587" y="5045075"/>
            <a:ext cx="10734675" cy="1571625"/>
          </a:xfrm>
          <a:prstGeom prst="rect">
            <a:avLst/>
          </a:prstGeom>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8337563B-573B-440A-B198-2A7849CF36E5}"/>
                  </a:ext>
                </a:extLst>
              </p14:cNvPr>
              <p14:cNvContentPartPr/>
              <p14:nvPr/>
            </p14:nvContentPartPr>
            <p14:xfrm>
              <a:off x="3990581" y="930771"/>
              <a:ext cx="2880" cy="3600"/>
            </p14:xfrm>
          </p:contentPart>
        </mc:Choice>
        <mc:Fallback xmlns="">
          <p:pic>
            <p:nvPicPr>
              <p:cNvPr id="4" name="Ink 3">
                <a:extLst>
                  <a:ext uri="{FF2B5EF4-FFF2-40B4-BE49-F238E27FC236}">
                    <a16:creationId xmlns:a16="http://schemas.microsoft.com/office/drawing/2014/main" id="{8337563B-573B-440A-B198-2A7849CF36E5}"/>
                  </a:ext>
                </a:extLst>
              </p:cNvPr>
              <p:cNvPicPr/>
              <p:nvPr/>
            </p:nvPicPr>
            <p:blipFill>
              <a:blip r:embed="rId4"/>
              <a:stretch>
                <a:fillRect/>
              </a:stretch>
            </p:blipFill>
            <p:spPr>
              <a:xfrm>
                <a:off x="3981941" y="922131"/>
                <a:ext cx="2052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9D973210-6D7D-4F31-A1F2-7DDDE8B3355B}"/>
                  </a:ext>
                </a:extLst>
              </p14:cNvPr>
              <p14:cNvContentPartPr/>
              <p14:nvPr/>
            </p14:nvContentPartPr>
            <p14:xfrm>
              <a:off x="4355261" y="851571"/>
              <a:ext cx="13320" cy="360"/>
            </p14:xfrm>
          </p:contentPart>
        </mc:Choice>
        <mc:Fallback xmlns="">
          <p:pic>
            <p:nvPicPr>
              <p:cNvPr id="6" name="Ink 5">
                <a:extLst>
                  <a:ext uri="{FF2B5EF4-FFF2-40B4-BE49-F238E27FC236}">
                    <a16:creationId xmlns:a16="http://schemas.microsoft.com/office/drawing/2014/main" id="{9D973210-6D7D-4F31-A1F2-7DDDE8B3355B}"/>
                  </a:ext>
                </a:extLst>
              </p:cNvPr>
              <p:cNvPicPr/>
              <p:nvPr/>
            </p:nvPicPr>
            <p:blipFill>
              <a:blip r:embed="rId6"/>
              <a:stretch>
                <a:fillRect/>
              </a:stretch>
            </p:blipFill>
            <p:spPr>
              <a:xfrm>
                <a:off x="4346261" y="842931"/>
                <a:ext cx="3096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769C817E-49E6-4513-BE9B-6046144771BF}"/>
                  </a:ext>
                </a:extLst>
              </p14:cNvPr>
              <p14:cNvContentPartPr/>
              <p14:nvPr/>
            </p14:nvContentPartPr>
            <p14:xfrm>
              <a:off x="3573341" y="73251"/>
              <a:ext cx="14040" cy="7200"/>
            </p14:xfrm>
          </p:contentPart>
        </mc:Choice>
        <mc:Fallback xmlns="">
          <p:pic>
            <p:nvPicPr>
              <p:cNvPr id="8" name="Ink 7">
                <a:extLst>
                  <a:ext uri="{FF2B5EF4-FFF2-40B4-BE49-F238E27FC236}">
                    <a16:creationId xmlns:a16="http://schemas.microsoft.com/office/drawing/2014/main" id="{769C817E-49E6-4513-BE9B-6046144771BF}"/>
                  </a:ext>
                </a:extLst>
              </p:cNvPr>
              <p:cNvPicPr/>
              <p:nvPr/>
            </p:nvPicPr>
            <p:blipFill>
              <a:blip r:embed="rId8"/>
              <a:stretch>
                <a:fillRect/>
              </a:stretch>
            </p:blipFill>
            <p:spPr>
              <a:xfrm>
                <a:off x="3564341" y="64251"/>
                <a:ext cx="31680" cy="24840"/>
              </a:xfrm>
              <a:prstGeom prst="rect">
                <a:avLst/>
              </a:prstGeom>
            </p:spPr>
          </p:pic>
        </mc:Fallback>
      </mc:AlternateContent>
    </p:spTree>
    <p:extLst>
      <p:ext uri="{BB962C8B-B14F-4D97-AF65-F5344CB8AC3E}">
        <p14:creationId xmlns:p14="http://schemas.microsoft.com/office/powerpoint/2010/main" val="1557077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CB006-543D-43F8-ABD3-505C1A81EBA9}"/>
              </a:ext>
            </a:extLst>
          </p:cNvPr>
          <p:cNvSpPr>
            <a:spLocks noGrp="1"/>
          </p:cNvSpPr>
          <p:nvPr>
            <p:ph type="title"/>
          </p:nvPr>
        </p:nvSpPr>
        <p:spPr/>
        <p:txBody>
          <a:bodyPr/>
          <a:lstStyle/>
          <a:p>
            <a:r>
              <a:rPr lang="en-US" altLang="en-US" dirty="0"/>
              <a:t>Issues in the design of Code Generator</a:t>
            </a:r>
            <a:br>
              <a:rPr lang="en-US" altLang="en-US" dirty="0"/>
            </a:br>
            <a:endParaRPr lang="en-IN" dirty="0"/>
          </a:p>
        </p:txBody>
      </p:sp>
      <p:sp>
        <p:nvSpPr>
          <p:cNvPr id="3" name="Content Placeholder 2">
            <a:extLst>
              <a:ext uri="{FF2B5EF4-FFF2-40B4-BE49-F238E27FC236}">
                <a16:creationId xmlns:a16="http://schemas.microsoft.com/office/drawing/2014/main" id="{05071023-BCB5-4697-914A-43A2F61AEC2A}"/>
              </a:ext>
            </a:extLst>
          </p:cNvPr>
          <p:cNvSpPr>
            <a:spLocks noGrp="1"/>
          </p:cNvSpPr>
          <p:nvPr>
            <p:ph idx="1"/>
          </p:nvPr>
        </p:nvSpPr>
        <p:spPr/>
        <p:txBody>
          <a:bodyPr/>
          <a:lstStyle/>
          <a:p>
            <a:pPr marL="0" indent="0">
              <a:buNone/>
            </a:pPr>
            <a:r>
              <a:rPr lang="en-IN" dirty="0"/>
              <a:t>1. </a:t>
            </a:r>
            <a:r>
              <a:rPr lang="en-US" dirty="0"/>
              <a:t>Input to the code generator</a:t>
            </a:r>
          </a:p>
          <a:p>
            <a:pPr lvl="1">
              <a:defRPr/>
            </a:pPr>
            <a:r>
              <a:rPr lang="en-US" dirty="0"/>
              <a:t>IR + Symbol table</a:t>
            </a:r>
          </a:p>
          <a:p>
            <a:pPr lvl="1">
              <a:defRPr/>
            </a:pPr>
            <a:r>
              <a:rPr lang="en-US" dirty="0"/>
              <a:t>We assume front end produces low-level IR, i.e. values of names in it can be directly manipulated by the machine instructions.</a:t>
            </a:r>
          </a:p>
          <a:p>
            <a:pPr lvl="1">
              <a:defRPr/>
            </a:pPr>
            <a:r>
              <a:rPr lang="en-US" dirty="0"/>
              <a:t>Syntactic and semantic errors have been already detected</a:t>
            </a:r>
          </a:p>
          <a:p>
            <a:pPr marL="0" indent="0">
              <a:buNone/>
              <a:defRPr/>
            </a:pPr>
            <a:r>
              <a:rPr lang="en-IN" dirty="0"/>
              <a:t>2. </a:t>
            </a:r>
            <a:r>
              <a:rPr lang="en-US" dirty="0"/>
              <a:t>The target program</a:t>
            </a:r>
          </a:p>
          <a:p>
            <a:pPr lvl="1">
              <a:defRPr/>
            </a:pPr>
            <a:r>
              <a:rPr lang="en-US" dirty="0"/>
              <a:t>Common target architectures are: RISC, CISC and Stack based machines</a:t>
            </a:r>
          </a:p>
          <a:p>
            <a:pPr lvl="1">
              <a:defRPr/>
            </a:pPr>
            <a:r>
              <a:rPr lang="en-US" dirty="0"/>
              <a:t>In this chapter we use a very simple RISC-like computer with addition of some CISC-like addressing modes</a:t>
            </a:r>
          </a:p>
          <a:p>
            <a:pPr marL="0" indent="0">
              <a:buNone/>
            </a:pPr>
            <a:endParaRPr lang="en-IN" dirty="0"/>
          </a:p>
        </p:txBody>
      </p:sp>
    </p:spTree>
    <p:extLst>
      <p:ext uri="{BB962C8B-B14F-4D97-AF65-F5344CB8AC3E}">
        <p14:creationId xmlns:p14="http://schemas.microsoft.com/office/powerpoint/2010/main" val="2743749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CB006-543D-43F8-ABD3-505C1A81EBA9}"/>
              </a:ext>
            </a:extLst>
          </p:cNvPr>
          <p:cNvSpPr>
            <a:spLocks noGrp="1"/>
          </p:cNvSpPr>
          <p:nvPr>
            <p:ph type="title"/>
          </p:nvPr>
        </p:nvSpPr>
        <p:spPr>
          <a:xfrm>
            <a:off x="533400" y="43654"/>
            <a:ext cx="10515600" cy="1325563"/>
          </a:xfrm>
        </p:spPr>
        <p:txBody>
          <a:bodyPr/>
          <a:lstStyle/>
          <a:p>
            <a:r>
              <a:rPr lang="en-US" altLang="en-US" dirty="0"/>
              <a:t>Issues in the design of Code Generator</a:t>
            </a:r>
            <a:br>
              <a:rPr lang="en-US" altLang="en-US" dirty="0"/>
            </a:br>
            <a:endParaRPr lang="en-IN" dirty="0"/>
          </a:p>
        </p:txBody>
      </p:sp>
      <p:sp>
        <p:nvSpPr>
          <p:cNvPr id="3" name="Content Placeholder 2">
            <a:extLst>
              <a:ext uri="{FF2B5EF4-FFF2-40B4-BE49-F238E27FC236}">
                <a16:creationId xmlns:a16="http://schemas.microsoft.com/office/drawing/2014/main" id="{05071023-BCB5-4697-914A-43A2F61AEC2A}"/>
              </a:ext>
            </a:extLst>
          </p:cNvPr>
          <p:cNvSpPr>
            <a:spLocks noGrp="1"/>
          </p:cNvSpPr>
          <p:nvPr>
            <p:ph idx="1"/>
          </p:nvPr>
        </p:nvSpPr>
        <p:spPr>
          <a:xfrm>
            <a:off x="266700" y="725486"/>
            <a:ext cx="10515600" cy="6088859"/>
          </a:xfrm>
        </p:spPr>
        <p:txBody>
          <a:bodyPr>
            <a:normAutofit/>
          </a:bodyPr>
          <a:lstStyle/>
          <a:p>
            <a:pPr marL="0" indent="0">
              <a:buNone/>
            </a:pPr>
            <a:r>
              <a:rPr lang="en-IN" dirty="0"/>
              <a:t>3. </a:t>
            </a:r>
            <a:r>
              <a:rPr lang="en-US" dirty="0"/>
              <a:t>Instruction selection</a:t>
            </a:r>
          </a:p>
          <a:p>
            <a:pPr lvl="1">
              <a:defRPr/>
            </a:pPr>
            <a:r>
              <a:rPr lang="en-US" dirty="0"/>
              <a:t>The code generator must map IR into a code sequence that can be executed by the target machine. The complexity of this mapping depends on:</a:t>
            </a:r>
          </a:p>
          <a:p>
            <a:pPr lvl="2">
              <a:defRPr/>
            </a:pPr>
            <a:r>
              <a:rPr lang="en-US" dirty="0"/>
              <a:t>the level of the IR</a:t>
            </a:r>
          </a:p>
          <a:p>
            <a:pPr lvl="2">
              <a:defRPr/>
            </a:pPr>
            <a:r>
              <a:rPr lang="en-US" dirty="0"/>
              <a:t>the nature of the instruction-set architecture</a:t>
            </a:r>
          </a:p>
          <a:p>
            <a:pPr lvl="2">
              <a:defRPr/>
            </a:pPr>
            <a:r>
              <a:rPr lang="en-US" dirty="0"/>
              <a:t>the desired quality of the generated code.</a:t>
            </a:r>
          </a:p>
          <a:p>
            <a:pPr lvl="1">
              <a:defRPr/>
            </a:pPr>
            <a:r>
              <a:rPr lang="en-US" dirty="0"/>
              <a:t>Instruction speeds and machine idioms are other important factors</a:t>
            </a:r>
          </a:p>
          <a:p>
            <a:pPr lvl="1">
              <a:defRPr/>
            </a:pPr>
            <a:r>
              <a:rPr lang="en-US" dirty="0"/>
              <a:t>For example , we design a code skeleton that defines the target code to be generated for each three address code instruction of the form x = y + z can be translated into </a:t>
            </a:r>
          </a:p>
          <a:p>
            <a:pPr lvl="1">
              <a:defRPr/>
            </a:pPr>
            <a:endParaRPr lang="en-US" dirty="0"/>
          </a:p>
          <a:p>
            <a:pPr lvl="1">
              <a:defRPr/>
            </a:pPr>
            <a:endParaRPr lang="en-US" dirty="0"/>
          </a:p>
          <a:p>
            <a:pPr lvl="1">
              <a:defRPr/>
            </a:pPr>
            <a:endParaRPr lang="en-US" dirty="0"/>
          </a:p>
          <a:p>
            <a:pPr lvl="1">
              <a:defRPr/>
            </a:pPr>
            <a:r>
              <a:rPr lang="en-US" dirty="0"/>
              <a:t>But it can lead to redundant code generation which can be </a:t>
            </a:r>
          </a:p>
          <a:p>
            <a:pPr marL="457200" lvl="1" indent="0">
              <a:buNone/>
              <a:defRPr/>
            </a:pPr>
            <a:r>
              <a:rPr lang="en-US" dirty="0"/>
              <a:t>seen in the next example </a:t>
            </a:r>
          </a:p>
          <a:p>
            <a:pPr lvl="1">
              <a:defRPr/>
            </a:pPr>
            <a:endParaRPr lang="en-US" dirty="0"/>
          </a:p>
          <a:p>
            <a:pPr marL="0" indent="0">
              <a:buNone/>
              <a:defRPr/>
            </a:pPr>
            <a:endParaRPr lang="en-IN" dirty="0"/>
          </a:p>
        </p:txBody>
      </p:sp>
      <p:sp>
        <p:nvSpPr>
          <p:cNvPr id="5" name="TextBox 4">
            <a:extLst>
              <a:ext uri="{FF2B5EF4-FFF2-40B4-BE49-F238E27FC236}">
                <a16:creationId xmlns:a16="http://schemas.microsoft.com/office/drawing/2014/main" id="{70AA2F55-3CAD-417E-9288-6EB70BDC80D3}"/>
              </a:ext>
            </a:extLst>
          </p:cNvPr>
          <p:cNvSpPr txBox="1">
            <a:spLocks noChangeArrowheads="1"/>
          </p:cNvSpPr>
          <p:nvPr/>
        </p:nvSpPr>
        <p:spPr bwMode="auto">
          <a:xfrm>
            <a:off x="2295525" y="4391025"/>
            <a:ext cx="1614545"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US" altLang="en-US" sz="1800" dirty="0"/>
              <a:t>LD 	R0, y</a:t>
            </a:r>
          </a:p>
          <a:p>
            <a:pPr eaLnBrk="1" hangingPunct="1"/>
            <a:r>
              <a:rPr lang="en-US" altLang="en-US" sz="1800" dirty="0"/>
              <a:t>ADD R0, R0, z</a:t>
            </a:r>
          </a:p>
          <a:p>
            <a:pPr eaLnBrk="1" hangingPunct="1"/>
            <a:r>
              <a:rPr lang="en-US" altLang="en-US" sz="1800" dirty="0"/>
              <a:t>ST 	x, R0</a:t>
            </a:r>
          </a:p>
        </p:txBody>
      </p:sp>
      <p:sp>
        <p:nvSpPr>
          <p:cNvPr id="6" name="TextBox 5">
            <a:extLst>
              <a:ext uri="{FF2B5EF4-FFF2-40B4-BE49-F238E27FC236}">
                <a16:creationId xmlns:a16="http://schemas.microsoft.com/office/drawing/2014/main" id="{59DB60C3-C012-45AF-9B93-F6E74FD74D25}"/>
              </a:ext>
            </a:extLst>
          </p:cNvPr>
          <p:cNvSpPr txBox="1">
            <a:spLocks noChangeArrowheads="1"/>
          </p:cNvSpPr>
          <p:nvPr/>
        </p:nvSpPr>
        <p:spPr bwMode="auto">
          <a:xfrm>
            <a:off x="4275138" y="5857875"/>
            <a:ext cx="11271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US" altLang="en-US" dirty="0"/>
              <a:t>a=</a:t>
            </a:r>
            <a:r>
              <a:rPr lang="en-US" altLang="en-US" dirty="0" err="1"/>
              <a:t>b+c</a:t>
            </a:r>
            <a:endParaRPr lang="en-US" altLang="en-US" dirty="0"/>
          </a:p>
          <a:p>
            <a:pPr eaLnBrk="1" hangingPunct="1"/>
            <a:r>
              <a:rPr lang="en-US" altLang="en-US" dirty="0"/>
              <a:t>d=</a:t>
            </a:r>
            <a:r>
              <a:rPr lang="en-US" altLang="en-US" dirty="0" err="1"/>
              <a:t>a+e</a:t>
            </a:r>
            <a:endParaRPr lang="en-US" altLang="en-US" dirty="0"/>
          </a:p>
        </p:txBody>
      </p:sp>
      <p:sp>
        <p:nvSpPr>
          <p:cNvPr id="7" name="TextBox 6">
            <a:extLst>
              <a:ext uri="{FF2B5EF4-FFF2-40B4-BE49-F238E27FC236}">
                <a16:creationId xmlns:a16="http://schemas.microsoft.com/office/drawing/2014/main" id="{C5594122-FF93-4598-B6DD-64D9113FF5F2}"/>
              </a:ext>
            </a:extLst>
          </p:cNvPr>
          <p:cNvSpPr txBox="1">
            <a:spLocks noChangeArrowheads="1"/>
          </p:cNvSpPr>
          <p:nvPr/>
        </p:nvSpPr>
        <p:spPr bwMode="auto">
          <a:xfrm>
            <a:off x="9267825" y="5176837"/>
            <a:ext cx="1614545"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US" altLang="en-US" sz="1800" dirty="0"/>
              <a:t>LD 	R0, b</a:t>
            </a:r>
          </a:p>
          <a:p>
            <a:pPr eaLnBrk="1" hangingPunct="1"/>
            <a:r>
              <a:rPr lang="en-US" altLang="en-US" sz="1800" dirty="0"/>
              <a:t>ADD R0, R0, c</a:t>
            </a:r>
          </a:p>
          <a:p>
            <a:pPr eaLnBrk="1" hangingPunct="1"/>
            <a:r>
              <a:rPr lang="en-US" altLang="en-US" sz="1800" dirty="0"/>
              <a:t>ST 	a, R0</a:t>
            </a:r>
          </a:p>
          <a:p>
            <a:pPr eaLnBrk="1" hangingPunct="1"/>
            <a:r>
              <a:rPr lang="en-US" altLang="en-US" sz="1800" dirty="0"/>
              <a:t>LD	R0, a</a:t>
            </a:r>
          </a:p>
          <a:p>
            <a:pPr eaLnBrk="1" hangingPunct="1"/>
            <a:r>
              <a:rPr lang="en-US" altLang="en-US" sz="1800" dirty="0"/>
              <a:t>ADD R0, R0, e</a:t>
            </a:r>
          </a:p>
          <a:p>
            <a:pPr eaLnBrk="1" hangingPunct="1"/>
            <a:r>
              <a:rPr lang="en-US" altLang="en-US" sz="1800" dirty="0"/>
              <a:t>ST	d, R0</a:t>
            </a:r>
          </a:p>
        </p:txBody>
      </p:sp>
    </p:spTree>
    <p:extLst>
      <p:ext uri="{BB962C8B-B14F-4D97-AF65-F5344CB8AC3E}">
        <p14:creationId xmlns:p14="http://schemas.microsoft.com/office/powerpoint/2010/main" val="818718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CB006-543D-43F8-ABD3-505C1A81EBA9}"/>
              </a:ext>
            </a:extLst>
          </p:cNvPr>
          <p:cNvSpPr>
            <a:spLocks noGrp="1"/>
          </p:cNvSpPr>
          <p:nvPr>
            <p:ph type="title"/>
          </p:nvPr>
        </p:nvSpPr>
        <p:spPr>
          <a:xfrm>
            <a:off x="533400" y="43654"/>
            <a:ext cx="10515600" cy="1325563"/>
          </a:xfrm>
        </p:spPr>
        <p:txBody>
          <a:bodyPr/>
          <a:lstStyle/>
          <a:p>
            <a:r>
              <a:rPr lang="en-US" altLang="en-US" dirty="0"/>
              <a:t>Issues in the design of Code Generator</a:t>
            </a:r>
            <a:br>
              <a:rPr lang="en-US" altLang="en-US" dirty="0"/>
            </a:br>
            <a:endParaRPr lang="en-IN" dirty="0"/>
          </a:p>
        </p:txBody>
      </p:sp>
      <p:sp>
        <p:nvSpPr>
          <p:cNvPr id="3" name="Content Placeholder 2">
            <a:extLst>
              <a:ext uri="{FF2B5EF4-FFF2-40B4-BE49-F238E27FC236}">
                <a16:creationId xmlns:a16="http://schemas.microsoft.com/office/drawing/2014/main" id="{05071023-BCB5-4697-914A-43A2F61AEC2A}"/>
              </a:ext>
            </a:extLst>
          </p:cNvPr>
          <p:cNvSpPr>
            <a:spLocks noGrp="1"/>
          </p:cNvSpPr>
          <p:nvPr>
            <p:ph idx="1"/>
          </p:nvPr>
        </p:nvSpPr>
        <p:spPr>
          <a:xfrm>
            <a:off x="266700" y="725486"/>
            <a:ext cx="10515600" cy="6088859"/>
          </a:xfrm>
        </p:spPr>
        <p:txBody>
          <a:bodyPr>
            <a:normAutofit/>
          </a:bodyPr>
          <a:lstStyle/>
          <a:p>
            <a:pPr marL="0" indent="0">
              <a:buNone/>
            </a:pPr>
            <a:r>
              <a:rPr lang="en-IN" dirty="0"/>
              <a:t>4. Register Allocation</a:t>
            </a:r>
          </a:p>
          <a:p>
            <a:pPr lvl="1"/>
            <a:r>
              <a:rPr lang="en-IN" dirty="0"/>
              <a:t>The key problem of code generator is what values to hold in what register</a:t>
            </a:r>
          </a:p>
          <a:p>
            <a:pPr lvl="1"/>
            <a:r>
              <a:rPr lang="en-IN" dirty="0"/>
              <a:t>The use of registers is sub divided into :</a:t>
            </a:r>
          </a:p>
          <a:p>
            <a:pPr lvl="2"/>
            <a:r>
              <a:rPr lang="en-US" altLang="en-US" dirty="0"/>
              <a:t>Register allocation: selecting the set of variables that will reside in registers at each point in the program</a:t>
            </a:r>
          </a:p>
          <a:p>
            <a:pPr lvl="2"/>
            <a:r>
              <a:rPr lang="en-US" altLang="en-US" dirty="0"/>
              <a:t>Register assignment: selecting specific register that a variable reside in</a:t>
            </a:r>
            <a:endParaRPr lang="en-IN" altLang="en-US" dirty="0"/>
          </a:p>
          <a:p>
            <a:pPr marL="0" indent="0">
              <a:buNone/>
            </a:pPr>
            <a:r>
              <a:rPr lang="en-IN" altLang="en-US" dirty="0"/>
              <a:t>5. Evaluation Order</a:t>
            </a:r>
          </a:p>
          <a:p>
            <a:pPr lvl="1"/>
            <a:r>
              <a:rPr lang="en-IN" altLang="en-US" dirty="0"/>
              <a:t>The order in which computations are performed can affect the efficiency of the target code</a:t>
            </a:r>
          </a:p>
          <a:p>
            <a:pPr lvl="1"/>
            <a:r>
              <a:rPr lang="en-IN" altLang="en-US" dirty="0"/>
              <a:t>Picking the best order however is a difficult NP-complete problem  </a:t>
            </a:r>
          </a:p>
          <a:p>
            <a:pPr lvl="1"/>
            <a:r>
              <a:rPr lang="en-IN" altLang="en-US" dirty="0"/>
              <a:t>Initially this problem is avoided by generating the code for the three address statements in the order in which they have been produced by the intermediate code generator</a:t>
            </a:r>
            <a:endParaRPr lang="en-US" altLang="en-US" dirty="0"/>
          </a:p>
        </p:txBody>
      </p:sp>
    </p:spTree>
    <p:extLst>
      <p:ext uri="{BB962C8B-B14F-4D97-AF65-F5344CB8AC3E}">
        <p14:creationId xmlns:p14="http://schemas.microsoft.com/office/powerpoint/2010/main" val="16749839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79D35-100F-448E-B452-0FFC44B6A96A}"/>
              </a:ext>
            </a:extLst>
          </p:cNvPr>
          <p:cNvSpPr>
            <a:spLocks noGrp="1"/>
          </p:cNvSpPr>
          <p:nvPr>
            <p:ph type="title"/>
          </p:nvPr>
        </p:nvSpPr>
        <p:spPr/>
        <p:txBody>
          <a:bodyPr/>
          <a:lstStyle/>
          <a:p>
            <a:r>
              <a:rPr lang="en-IN" dirty="0"/>
              <a:t>The Target Language</a:t>
            </a:r>
          </a:p>
        </p:txBody>
      </p:sp>
      <p:sp>
        <p:nvSpPr>
          <p:cNvPr id="3" name="Content Placeholder 2">
            <a:extLst>
              <a:ext uri="{FF2B5EF4-FFF2-40B4-BE49-F238E27FC236}">
                <a16:creationId xmlns:a16="http://schemas.microsoft.com/office/drawing/2014/main" id="{0FB314A8-9C37-47F3-89B0-D94D92663230}"/>
              </a:ext>
            </a:extLst>
          </p:cNvPr>
          <p:cNvSpPr>
            <a:spLocks noGrp="1"/>
          </p:cNvSpPr>
          <p:nvPr>
            <p:ph idx="1"/>
          </p:nvPr>
        </p:nvSpPr>
        <p:spPr>
          <a:xfrm>
            <a:off x="838200" y="1571625"/>
            <a:ext cx="10515600" cy="4605338"/>
          </a:xfrm>
        </p:spPr>
        <p:txBody>
          <a:bodyPr>
            <a:normAutofit fontScale="92500" lnSpcReduction="20000"/>
          </a:bodyPr>
          <a:lstStyle/>
          <a:p>
            <a:pPr>
              <a:lnSpc>
                <a:spcPct val="120000"/>
              </a:lnSpc>
            </a:pPr>
            <a:r>
              <a:rPr lang="en-US" dirty="0"/>
              <a:t>Uses as a target language assembly code for a simple computer that is representative of many register machines</a:t>
            </a:r>
          </a:p>
          <a:p>
            <a:pPr marL="0" indent="0">
              <a:buNone/>
            </a:pPr>
            <a:r>
              <a:rPr lang="en-US" b="1" dirty="0"/>
              <a:t>A Simple Target Machine Model</a:t>
            </a:r>
          </a:p>
          <a:p>
            <a:pPr>
              <a:lnSpc>
                <a:spcPct val="130000"/>
              </a:lnSpc>
            </a:pPr>
            <a:r>
              <a:rPr lang="en-US" altLang="en-US" dirty="0"/>
              <a:t>Load operations: LD </a:t>
            </a:r>
            <a:r>
              <a:rPr lang="en-US" altLang="en-US" dirty="0" err="1"/>
              <a:t>r,x</a:t>
            </a:r>
            <a:r>
              <a:rPr lang="en-US" altLang="en-US" dirty="0"/>
              <a:t> and LD r1, r2</a:t>
            </a:r>
          </a:p>
          <a:p>
            <a:pPr>
              <a:lnSpc>
                <a:spcPct val="130000"/>
              </a:lnSpc>
            </a:pPr>
            <a:r>
              <a:rPr lang="en-US" altLang="en-US" dirty="0"/>
              <a:t>Store operations: ST </a:t>
            </a:r>
            <a:r>
              <a:rPr lang="en-US" altLang="en-US" dirty="0" err="1"/>
              <a:t>x,r</a:t>
            </a:r>
            <a:endParaRPr lang="en-US" altLang="en-US" dirty="0"/>
          </a:p>
          <a:p>
            <a:pPr>
              <a:lnSpc>
                <a:spcPct val="130000"/>
              </a:lnSpc>
            </a:pPr>
            <a:r>
              <a:rPr lang="en-US" altLang="en-US" dirty="0"/>
              <a:t>Computation operations: OP </a:t>
            </a:r>
            <a:r>
              <a:rPr lang="en-US" altLang="en-US" dirty="0" err="1"/>
              <a:t>dst</a:t>
            </a:r>
            <a:r>
              <a:rPr lang="en-US" altLang="en-US" dirty="0"/>
              <a:t>, src1, src2</a:t>
            </a:r>
          </a:p>
          <a:p>
            <a:pPr>
              <a:lnSpc>
                <a:spcPct val="130000"/>
              </a:lnSpc>
            </a:pPr>
            <a:r>
              <a:rPr lang="en-US" altLang="en-US" dirty="0"/>
              <a:t>Unconditional jumps: BR L </a:t>
            </a:r>
          </a:p>
          <a:p>
            <a:pPr>
              <a:lnSpc>
                <a:spcPct val="130000"/>
              </a:lnSpc>
            </a:pPr>
            <a:r>
              <a:rPr lang="en-US" altLang="en-US" dirty="0"/>
              <a:t>Conditional jumps: </a:t>
            </a:r>
            <a:r>
              <a:rPr lang="en-US" altLang="en-US" dirty="0" err="1"/>
              <a:t>Bcond</a:t>
            </a:r>
            <a:r>
              <a:rPr lang="en-US" altLang="en-US" dirty="0"/>
              <a:t> r, L   where </a:t>
            </a:r>
            <a:r>
              <a:rPr lang="en-US" altLang="en-US" i="1" dirty="0" err="1"/>
              <a:t>cond</a:t>
            </a:r>
            <a:r>
              <a:rPr lang="en-US" altLang="en-US" dirty="0"/>
              <a:t> is any of the common tests, </a:t>
            </a:r>
            <a:r>
              <a:rPr lang="en-US" altLang="en-US" i="1" dirty="0"/>
              <a:t>r</a:t>
            </a:r>
            <a:r>
              <a:rPr lang="en-US" altLang="en-US" dirty="0"/>
              <a:t> is a register and </a:t>
            </a:r>
            <a:r>
              <a:rPr lang="en-US" altLang="en-US" i="1" dirty="0"/>
              <a:t>L</a:t>
            </a:r>
            <a:r>
              <a:rPr lang="en-US" altLang="en-US" dirty="0"/>
              <a:t> is the target label </a:t>
            </a:r>
            <a:r>
              <a:rPr lang="en-US" altLang="en-US" dirty="0" err="1"/>
              <a:t>eg</a:t>
            </a:r>
            <a:r>
              <a:rPr lang="en-US" altLang="en-US" dirty="0"/>
              <a:t>: BLTZ r, L</a:t>
            </a:r>
          </a:p>
          <a:p>
            <a:pPr>
              <a:lnSpc>
                <a:spcPct val="130000"/>
              </a:lnSpc>
            </a:pPr>
            <a:endParaRPr lang="en-IN" b="1" dirty="0"/>
          </a:p>
        </p:txBody>
      </p:sp>
    </p:spTree>
    <p:extLst>
      <p:ext uri="{BB962C8B-B14F-4D97-AF65-F5344CB8AC3E}">
        <p14:creationId xmlns:p14="http://schemas.microsoft.com/office/powerpoint/2010/main" val="21872661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79D35-100F-448E-B452-0FFC44B6A96A}"/>
              </a:ext>
            </a:extLst>
          </p:cNvPr>
          <p:cNvSpPr>
            <a:spLocks noGrp="1"/>
          </p:cNvSpPr>
          <p:nvPr>
            <p:ph type="title"/>
          </p:nvPr>
        </p:nvSpPr>
        <p:spPr>
          <a:xfrm>
            <a:off x="352425" y="0"/>
            <a:ext cx="10515600" cy="1325563"/>
          </a:xfrm>
        </p:spPr>
        <p:txBody>
          <a:bodyPr/>
          <a:lstStyle/>
          <a:p>
            <a:r>
              <a:rPr lang="en-IN" dirty="0"/>
              <a:t>The Target Language</a:t>
            </a:r>
          </a:p>
        </p:txBody>
      </p:sp>
      <p:sp>
        <p:nvSpPr>
          <p:cNvPr id="3" name="Content Placeholder 2">
            <a:extLst>
              <a:ext uri="{FF2B5EF4-FFF2-40B4-BE49-F238E27FC236}">
                <a16:creationId xmlns:a16="http://schemas.microsoft.com/office/drawing/2014/main" id="{0FB314A8-9C37-47F3-89B0-D94D92663230}"/>
              </a:ext>
            </a:extLst>
          </p:cNvPr>
          <p:cNvSpPr>
            <a:spLocks noGrp="1"/>
          </p:cNvSpPr>
          <p:nvPr>
            <p:ph idx="1"/>
          </p:nvPr>
        </p:nvSpPr>
        <p:spPr>
          <a:xfrm>
            <a:off x="838200" y="1076326"/>
            <a:ext cx="10515600" cy="5705474"/>
          </a:xfrm>
        </p:spPr>
        <p:txBody>
          <a:bodyPr>
            <a:normAutofit fontScale="85000" lnSpcReduction="20000"/>
          </a:bodyPr>
          <a:lstStyle/>
          <a:p>
            <a:pPr marL="0" indent="0">
              <a:buNone/>
            </a:pPr>
            <a:r>
              <a:rPr lang="en-US" b="1" dirty="0"/>
              <a:t>Addressing modes:</a:t>
            </a:r>
          </a:p>
          <a:p>
            <a:pPr>
              <a:lnSpc>
                <a:spcPct val="140000"/>
              </a:lnSpc>
            </a:pPr>
            <a:r>
              <a:rPr lang="en-US" altLang="en-US" b="1" dirty="0"/>
              <a:t>variable name: x</a:t>
            </a:r>
            <a:r>
              <a:rPr lang="en-US" altLang="en-US" dirty="0"/>
              <a:t>, is a memory location reserved for x</a:t>
            </a:r>
          </a:p>
          <a:p>
            <a:pPr>
              <a:lnSpc>
                <a:spcPct val="140000"/>
              </a:lnSpc>
            </a:pPr>
            <a:r>
              <a:rPr lang="en-US" altLang="en-US" b="1" dirty="0"/>
              <a:t>indexed address: a(r) like LD R1, a(R2) </a:t>
            </a:r>
            <a:r>
              <a:rPr lang="en-US" altLang="en-US" dirty="0"/>
              <a:t>means R1=contents(</a:t>
            </a:r>
            <a:r>
              <a:rPr lang="en-US" altLang="en-US" dirty="0" err="1"/>
              <a:t>a+contents</a:t>
            </a:r>
            <a:r>
              <a:rPr lang="en-US" altLang="en-US" dirty="0"/>
              <a:t>(R2)), where contents(x) denotes the contents of the register or memory location represented by x. </a:t>
            </a:r>
          </a:p>
          <a:p>
            <a:pPr>
              <a:lnSpc>
                <a:spcPct val="140000"/>
              </a:lnSpc>
            </a:pPr>
            <a:r>
              <a:rPr lang="en-US" altLang="en-US" b="1" dirty="0"/>
              <a:t>integer  indexed by a register : like LD R1, 100(R2) , </a:t>
            </a:r>
            <a:r>
              <a:rPr lang="en-US" altLang="en-US" dirty="0"/>
              <a:t>has the effect of setting R1 = contents(100 +contents(R2)), that is, of loading into R1 the value in the memory location obtained by adding 100 to the contents of register R2</a:t>
            </a:r>
          </a:p>
          <a:p>
            <a:pPr>
              <a:lnSpc>
                <a:spcPct val="140000"/>
              </a:lnSpc>
            </a:pPr>
            <a:r>
              <a:rPr lang="en-US" altLang="en-US" b="1" dirty="0"/>
              <a:t>Indirect addressing mode: *r and *100(r), </a:t>
            </a:r>
            <a:r>
              <a:rPr lang="en-US" altLang="en-US" dirty="0"/>
              <a:t>has the effect of setting R1 = contents(contents(100 + contents(R2))), that is, of loading into R1 the value in the memory location stored in the memory location obtained by adding 100 to the contents of register R2.</a:t>
            </a:r>
          </a:p>
          <a:p>
            <a:pPr>
              <a:lnSpc>
                <a:spcPct val="130000"/>
              </a:lnSpc>
            </a:pPr>
            <a:endParaRPr lang="en-IN" b="1" dirty="0"/>
          </a:p>
        </p:txBody>
      </p:sp>
    </p:spTree>
    <p:extLst>
      <p:ext uri="{BB962C8B-B14F-4D97-AF65-F5344CB8AC3E}">
        <p14:creationId xmlns:p14="http://schemas.microsoft.com/office/powerpoint/2010/main" val="33544086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79D35-100F-448E-B452-0FFC44B6A96A}"/>
              </a:ext>
            </a:extLst>
          </p:cNvPr>
          <p:cNvSpPr>
            <a:spLocks noGrp="1"/>
          </p:cNvSpPr>
          <p:nvPr>
            <p:ph type="title"/>
          </p:nvPr>
        </p:nvSpPr>
        <p:spPr/>
        <p:txBody>
          <a:bodyPr/>
          <a:lstStyle/>
          <a:p>
            <a:r>
              <a:rPr lang="en-IN" dirty="0"/>
              <a:t>The Target Language</a:t>
            </a:r>
          </a:p>
        </p:txBody>
      </p:sp>
      <p:sp>
        <p:nvSpPr>
          <p:cNvPr id="3" name="Content Placeholder 2">
            <a:extLst>
              <a:ext uri="{FF2B5EF4-FFF2-40B4-BE49-F238E27FC236}">
                <a16:creationId xmlns:a16="http://schemas.microsoft.com/office/drawing/2014/main" id="{0FB314A8-9C37-47F3-89B0-D94D92663230}"/>
              </a:ext>
            </a:extLst>
          </p:cNvPr>
          <p:cNvSpPr>
            <a:spLocks noGrp="1"/>
          </p:cNvSpPr>
          <p:nvPr>
            <p:ph idx="1"/>
          </p:nvPr>
        </p:nvSpPr>
        <p:spPr>
          <a:xfrm>
            <a:off x="838200" y="1571624"/>
            <a:ext cx="10515600" cy="5210175"/>
          </a:xfrm>
        </p:spPr>
        <p:txBody>
          <a:bodyPr>
            <a:normAutofit/>
          </a:bodyPr>
          <a:lstStyle/>
          <a:p>
            <a:pPr marL="0" indent="0">
              <a:buNone/>
            </a:pPr>
            <a:r>
              <a:rPr lang="en-US" b="1" dirty="0"/>
              <a:t>Addressing modes:</a:t>
            </a:r>
          </a:p>
          <a:p>
            <a:pPr>
              <a:lnSpc>
                <a:spcPct val="140000"/>
              </a:lnSpc>
            </a:pPr>
            <a:r>
              <a:rPr lang="en-US" altLang="en-US" b="1" dirty="0"/>
              <a:t>immediate constant addressing mode: like LD R1, #100</a:t>
            </a:r>
            <a:r>
              <a:rPr lang="en-US" altLang="en-US" dirty="0"/>
              <a:t>, loads the integer 100 into register R1, and ADD R1, R1, #100 adds the integer 100 into register R1.</a:t>
            </a:r>
          </a:p>
          <a:p>
            <a:pPr>
              <a:lnSpc>
                <a:spcPct val="140000"/>
              </a:lnSpc>
            </a:pPr>
            <a:r>
              <a:rPr lang="en-US" altLang="en-US" dirty="0"/>
              <a:t>Comments at the end of instructions are preceded by //.</a:t>
            </a:r>
          </a:p>
          <a:p>
            <a:pPr>
              <a:lnSpc>
                <a:spcPct val="130000"/>
              </a:lnSpc>
            </a:pPr>
            <a:r>
              <a:rPr lang="en-IN" b="1" dirty="0"/>
              <a:t>Examples…..</a:t>
            </a:r>
          </a:p>
        </p:txBody>
      </p:sp>
    </p:spTree>
    <p:extLst>
      <p:ext uri="{BB962C8B-B14F-4D97-AF65-F5344CB8AC3E}">
        <p14:creationId xmlns:p14="http://schemas.microsoft.com/office/powerpoint/2010/main" val="41968854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E5AFA-E626-48DF-9A9C-4E2F5FCDCB55}"/>
              </a:ext>
            </a:extLst>
          </p:cNvPr>
          <p:cNvSpPr>
            <a:spLocks noGrp="1"/>
          </p:cNvSpPr>
          <p:nvPr>
            <p:ph type="title"/>
          </p:nvPr>
        </p:nvSpPr>
        <p:spPr/>
        <p:txBody>
          <a:bodyPr/>
          <a:lstStyle/>
          <a:p>
            <a:r>
              <a:rPr lang="en-IN" dirty="0"/>
              <a:t>Examples:</a:t>
            </a:r>
          </a:p>
        </p:txBody>
      </p:sp>
      <p:sp>
        <p:nvSpPr>
          <p:cNvPr id="3" name="Content Placeholder 2">
            <a:extLst>
              <a:ext uri="{FF2B5EF4-FFF2-40B4-BE49-F238E27FC236}">
                <a16:creationId xmlns:a16="http://schemas.microsoft.com/office/drawing/2014/main" id="{6C3FEBD8-A729-4492-A859-0F0636FA07B4}"/>
              </a:ext>
            </a:extLst>
          </p:cNvPr>
          <p:cNvSpPr>
            <a:spLocks noGrp="1"/>
          </p:cNvSpPr>
          <p:nvPr>
            <p:ph idx="1"/>
          </p:nvPr>
        </p:nvSpPr>
        <p:spPr/>
        <p:txBody>
          <a:bodyPr/>
          <a:lstStyle/>
          <a:p>
            <a:pPr marL="0" indent="0">
              <a:buNone/>
            </a:pPr>
            <a:r>
              <a:rPr lang="en-IN" b="1" dirty="0"/>
              <a:t>Source code: b = a[</a:t>
            </a:r>
            <a:r>
              <a:rPr lang="en-IN" b="1" dirty="0" err="1"/>
              <a:t>i</a:t>
            </a:r>
            <a:r>
              <a:rPr lang="en-IN" b="1" dirty="0"/>
              <a:t>]                                       a[</a:t>
            </a:r>
            <a:r>
              <a:rPr lang="en-IN" b="1" dirty="0" err="1"/>
              <a:t>i</a:t>
            </a:r>
            <a:r>
              <a:rPr lang="en-IN" b="1" dirty="0"/>
              <a:t>] = b</a:t>
            </a:r>
          </a:p>
          <a:p>
            <a:pPr marL="457200" lvl="1" indent="0">
              <a:buNone/>
            </a:pPr>
            <a:r>
              <a:rPr lang="en-IN" b="1" dirty="0"/>
              <a:t>           t1= </a:t>
            </a:r>
            <a:r>
              <a:rPr lang="en-IN" b="1" dirty="0" err="1"/>
              <a:t>i</a:t>
            </a:r>
            <a:r>
              <a:rPr lang="en-IN" b="1" dirty="0"/>
              <a:t> * 8</a:t>
            </a:r>
          </a:p>
          <a:p>
            <a:pPr marL="457200" lvl="1" indent="0">
              <a:buNone/>
            </a:pPr>
            <a:r>
              <a:rPr lang="en-IN" b="1" dirty="0"/>
              <a:t>           t2= a[t1]</a:t>
            </a:r>
          </a:p>
          <a:p>
            <a:pPr marL="457200" lvl="1" indent="0">
              <a:buNone/>
            </a:pPr>
            <a:r>
              <a:rPr lang="en-IN" b="1" dirty="0"/>
              <a:t>           b= t2</a:t>
            </a:r>
          </a:p>
          <a:p>
            <a:pPr marL="0" indent="0">
              <a:buNone/>
            </a:pPr>
            <a:r>
              <a:rPr lang="en-IN" b="1" dirty="0"/>
              <a:t>         Assembly code: LD R1,i</a:t>
            </a:r>
          </a:p>
          <a:p>
            <a:pPr marL="0" indent="0">
              <a:buNone/>
            </a:pPr>
            <a:r>
              <a:rPr lang="en-IN" b="1" dirty="0"/>
              <a:t>			     MUL R1, R1,8</a:t>
            </a:r>
          </a:p>
          <a:p>
            <a:pPr marL="0" indent="0">
              <a:buNone/>
            </a:pPr>
            <a:r>
              <a:rPr lang="en-IN" b="1" dirty="0"/>
              <a:t>			     LD R2, a(R1)</a:t>
            </a:r>
          </a:p>
          <a:p>
            <a:pPr marL="0" indent="0">
              <a:buNone/>
            </a:pPr>
            <a:r>
              <a:rPr lang="en-IN" b="1" dirty="0"/>
              <a:t>                                       ST   b, R2		</a:t>
            </a:r>
          </a:p>
          <a:p>
            <a:pPr marL="0" indent="0">
              <a:buNone/>
            </a:pPr>
            <a:endParaRPr lang="en-IN" dirty="0"/>
          </a:p>
        </p:txBody>
      </p:sp>
    </p:spTree>
    <p:extLst>
      <p:ext uri="{BB962C8B-B14F-4D97-AF65-F5344CB8AC3E}">
        <p14:creationId xmlns:p14="http://schemas.microsoft.com/office/powerpoint/2010/main" val="290994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C0E09-83A9-4E1C-BD2B-AB96B01C860D}"/>
              </a:ext>
            </a:extLst>
          </p:cNvPr>
          <p:cNvSpPr>
            <a:spLocks noGrp="1"/>
          </p:cNvSpPr>
          <p:nvPr>
            <p:ph type="title"/>
          </p:nvPr>
        </p:nvSpPr>
        <p:spPr>
          <a:xfrm>
            <a:off x="533400" y="117475"/>
            <a:ext cx="10515600" cy="549275"/>
          </a:xfrm>
        </p:spPr>
        <p:txBody>
          <a:bodyPr>
            <a:normAutofit fontScale="90000"/>
          </a:bodyPr>
          <a:lstStyle/>
          <a:p>
            <a:r>
              <a:rPr lang="en-US" dirty="0"/>
              <a:t>Addresses in the Target Code</a:t>
            </a:r>
            <a:endParaRPr lang="en-IN" dirty="0"/>
          </a:p>
        </p:txBody>
      </p:sp>
      <p:sp>
        <p:nvSpPr>
          <p:cNvPr id="3" name="Content Placeholder 2">
            <a:extLst>
              <a:ext uri="{FF2B5EF4-FFF2-40B4-BE49-F238E27FC236}">
                <a16:creationId xmlns:a16="http://schemas.microsoft.com/office/drawing/2014/main" id="{9FDA91D6-699F-41F4-866A-F2700A9A54E3}"/>
              </a:ext>
            </a:extLst>
          </p:cNvPr>
          <p:cNvSpPr>
            <a:spLocks noGrp="1"/>
          </p:cNvSpPr>
          <p:nvPr>
            <p:ph idx="1"/>
          </p:nvPr>
        </p:nvSpPr>
        <p:spPr>
          <a:xfrm>
            <a:off x="295275" y="762000"/>
            <a:ext cx="11058525" cy="6096000"/>
          </a:xfrm>
        </p:spPr>
        <p:txBody>
          <a:bodyPr>
            <a:normAutofit fontScale="77500" lnSpcReduction="20000"/>
          </a:bodyPr>
          <a:lstStyle/>
          <a:p>
            <a:pPr>
              <a:lnSpc>
                <a:spcPct val="120000"/>
              </a:lnSpc>
            </a:pPr>
            <a:r>
              <a:rPr lang="en-US" dirty="0"/>
              <a:t>We will learn how names in the IR can be converted into addresses in the target code by looking at code generation for simple procedure calls and returns using static and stack allocation.</a:t>
            </a:r>
          </a:p>
          <a:p>
            <a:pPr>
              <a:lnSpc>
                <a:spcPct val="120000"/>
              </a:lnSpc>
            </a:pPr>
            <a:r>
              <a:rPr lang="en-US" dirty="0"/>
              <a:t>Describes how each executing program runs in its own logical address space that was partitioned into four code and data areas:</a:t>
            </a:r>
          </a:p>
          <a:p>
            <a:pPr marL="514350" indent="-514350">
              <a:lnSpc>
                <a:spcPct val="120000"/>
              </a:lnSpc>
              <a:buFont typeface="+mj-lt"/>
              <a:buAutoNum type="arabicPeriod"/>
            </a:pPr>
            <a:r>
              <a:rPr lang="en-US" dirty="0"/>
              <a:t>A statically determined area </a:t>
            </a:r>
            <a:r>
              <a:rPr lang="en-US" b="1" i="1" dirty="0"/>
              <a:t>Code</a:t>
            </a:r>
            <a:r>
              <a:rPr lang="en-US" dirty="0"/>
              <a:t> that holds the executable target code. The size of the target code can be determined at compile time.</a:t>
            </a:r>
          </a:p>
          <a:p>
            <a:pPr marL="514350" indent="-514350">
              <a:lnSpc>
                <a:spcPct val="120000"/>
              </a:lnSpc>
              <a:buFont typeface="+mj-lt"/>
              <a:buAutoNum type="arabicPeriod"/>
            </a:pPr>
            <a:r>
              <a:rPr lang="en-US" dirty="0"/>
              <a:t>A statically determined data area </a:t>
            </a:r>
            <a:r>
              <a:rPr lang="en-US" b="1" i="1" dirty="0"/>
              <a:t>Static</a:t>
            </a:r>
            <a:r>
              <a:rPr lang="en-US" dirty="0"/>
              <a:t> for holding global constants and other data generated by the compiler. The size of the global constants and compiler data can also be determined at compile time.</a:t>
            </a:r>
          </a:p>
          <a:p>
            <a:pPr marL="514350" indent="-514350">
              <a:lnSpc>
                <a:spcPct val="120000"/>
              </a:lnSpc>
              <a:buFont typeface="+mj-lt"/>
              <a:buAutoNum type="arabicPeriod"/>
            </a:pPr>
            <a:r>
              <a:rPr lang="en-US" dirty="0"/>
              <a:t>A dynamically managed area </a:t>
            </a:r>
            <a:r>
              <a:rPr lang="en-US" b="1" i="1" dirty="0"/>
              <a:t>Heap</a:t>
            </a:r>
            <a:r>
              <a:rPr lang="en-US" dirty="0"/>
              <a:t> for holding data objects that are allocated and freed during program execution. The size of the Heap cannot be determined at compile time.</a:t>
            </a:r>
          </a:p>
          <a:p>
            <a:pPr marL="514350" indent="-514350">
              <a:lnSpc>
                <a:spcPct val="120000"/>
              </a:lnSpc>
              <a:buFont typeface="+mj-lt"/>
              <a:buAutoNum type="arabicPeriod"/>
            </a:pPr>
            <a:r>
              <a:rPr lang="en-US" dirty="0"/>
              <a:t>A dynamically managed area </a:t>
            </a:r>
            <a:r>
              <a:rPr lang="en-US" b="1" i="1" dirty="0"/>
              <a:t>Stack</a:t>
            </a:r>
            <a:r>
              <a:rPr lang="en-US" dirty="0"/>
              <a:t> for holding activation records as they are created and destroyed during procedure calls and returns. Like the Heap, the size of the Stack cannot be determined at compile time.</a:t>
            </a:r>
            <a:endParaRPr lang="en-IN" dirty="0"/>
          </a:p>
        </p:txBody>
      </p:sp>
    </p:spTree>
    <p:extLst>
      <p:ext uri="{BB962C8B-B14F-4D97-AF65-F5344CB8AC3E}">
        <p14:creationId xmlns:p14="http://schemas.microsoft.com/office/powerpoint/2010/main" val="30646985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00FEF-4192-4C8E-8EC1-CA0B3CEE0E95}"/>
              </a:ext>
            </a:extLst>
          </p:cNvPr>
          <p:cNvSpPr>
            <a:spLocks noGrp="1"/>
          </p:cNvSpPr>
          <p:nvPr>
            <p:ph type="title"/>
          </p:nvPr>
        </p:nvSpPr>
        <p:spPr>
          <a:xfrm>
            <a:off x="647700" y="184150"/>
            <a:ext cx="10515600" cy="568325"/>
          </a:xfrm>
        </p:spPr>
        <p:txBody>
          <a:bodyPr>
            <a:normAutofit fontScale="90000"/>
          </a:bodyPr>
          <a:lstStyle/>
          <a:p>
            <a:r>
              <a:rPr lang="en-IN" dirty="0"/>
              <a:t>Static Allocation</a:t>
            </a:r>
          </a:p>
        </p:txBody>
      </p:sp>
      <p:sp>
        <p:nvSpPr>
          <p:cNvPr id="3" name="Content Placeholder 2">
            <a:extLst>
              <a:ext uri="{FF2B5EF4-FFF2-40B4-BE49-F238E27FC236}">
                <a16:creationId xmlns:a16="http://schemas.microsoft.com/office/drawing/2014/main" id="{16CDF96C-9637-4D7D-92A5-14B3128EBD5B}"/>
              </a:ext>
            </a:extLst>
          </p:cNvPr>
          <p:cNvSpPr>
            <a:spLocks noGrp="1"/>
          </p:cNvSpPr>
          <p:nvPr>
            <p:ph idx="1"/>
          </p:nvPr>
        </p:nvSpPr>
        <p:spPr>
          <a:xfrm>
            <a:off x="428625" y="857250"/>
            <a:ext cx="11249025" cy="5686425"/>
          </a:xfrm>
        </p:spPr>
        <p:txBody>
          <a:bodyPr/>
          <a:lstStyle/>
          <a:p>
            <a:r>
              <a:rPr lang="en-US" dirty="0"/>
              <a:t>To illustrate code generation for </a:t>
            </a:r>
            <a:r>
              <a:rPr lang="en-US" dirty="0" err="1"/>
              <a:t>simpli</a:t>
            </a:r>
            <a:r>
              <a:rPr lang="en-US" dirty="0"/>
              <a:t>ed procedure calls and returns, we shall</a:t>
            </a:r>
          </a:p>
          <a:p>
            <a:r>
              <a:rPr lang="en-US" dirty="0"/>
              <a:t>focus on the following three-address statements:</a:t>
            </a:r>
          </a:p>
          <a:p>
            <a:pPr lvl="1"/>
            <a:r>
              <a:rPr lang="en-US" b="1" dirty="0"/>
              <a:t>call </a:t>
            </a:r>
            <a:r>
              <a:rPr lang="en-US" b="1" i="1" dirty="0"/>
              <a:t>callee</a:t>
            </a:r>
          </a:p>
          <a:p>
            <a:pPr lvl="1"/>
            <a:r>
              <a:rPr lang="en-US" b="1" dirty="0"/>
              <a:t>return</a:t>
            </a:r>
          </a:p>
          <a:p>
            <a:pPr lvl="1"/>
            <a:r>
              <a:rPr lang="en-US" b="1" dirty="0"/>
              <a:t>halt</a:t>
            </a:r>
          </a:p>
          <a:p>
            <a:pPr lvl="1"/>
            <a:r>
              <a:rPr lang="en-US" b="1" dirty="0"/>
              <a:t>action</a:t>
            </a:r>
            <a:r>
              <a:rPr lang="en-US" dirty="0"/>
              <a:t>, which is a placeholder for other three-address statements.</a:t>
            </a:r>
          </a:p>
          <a:p>
            <a:r>
              <a:rPr lang="en-US" dirty="0"/>
              <a:t>The size and layout of activation records are determined by the code generator via the information about names stored in the symbol table.</a:t>
            </a:r>
          </a:p>
          <a:p>
            <a:pPr marL="0" indent="0">
              <a:buNone/>
            </a:pPr>
            <a:endParaRPr lang="en-IN" dirty="0"/>
          </a:p>
        </p:txBody>
      </p:sp>
    </p:spTree>
    <p:extLst>
      <p:ext uri="{BB962C8B-B14F-4D97-AF65-F5344CB8AC3E}">
        <p14:creationId xmlns:p14="http://schemas.microsoft.com/office/powerpoint/2010/main" val="11194094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DAADFD-07F3-4A26-879A-E8FA180B18B6}"/>
              </a:ext>
            </a:extLst>
          </p:cNvPr>
          <p:cNvSpPr>
            <a:spLocks noGrp="1"/>
          </p:cNvSpPr>
          <p:nvPr>
            <p:ph idx="1"/>
          </p:nvPr>
        </p:nvSpPr>
        <p:spPr>
          <a:xfrm>
            <a:off x="211757" y="510138"/>
            <a:ext cx="11482938" cy="6347861"/>
          </a:xfrm>
        </p:spPr>
        <p:txBody>
          <a:bodyPr>
            <a:normAutofit fontScale="85000" lnSpcReduction="10000"/>
          </a:bodyPr>
          <a:lstStyle/>
          <a:p>
            <a:pPr algn="just">
              <a:lnSpc>
                <a:spcPct val="120000"/>
              </a:lnSpc>
            </a:pPr>
            <a:r>
              <a:rPr lang="en-US" dirty="0"/>
              <a:t>First illustrate how to store the return address in an activation record on a procedure call and how to return control to it after the procedure call. For convenience, we assume the first location in the activation record holds the return address.</a:t>
            </a:r>
          </a:p>
          <a:p>
            <a:pPr algn="just">
              <a:lnSpc>
                <a:spcPct val="120000"/>
              </a:lnSpc>
            </a:pPr>
            <a:r>
              <a:rPr lang="en-US" dirty="0"/>
              <a:t>A </a:t>
            </a:r>
            <a:r>
              <a:rPr lang="en-US" b="1" dirty="0"/>
              <a:t>call </a:t>
            </a:r>
            <a:r>
              <a:rPr lang="en-US" b="1" i="1" dirty="0"/>
              <a:t>callee</a:t>
            </a:r>
            <a:r>
              <a:rPr lang="en-US" dirty="0"/>
              <a:t> statement in the intermediate code can be implemented</a:t>
            </a:r>
          </a:p>
          <a:p>
            <a:pPr marL="0" indent="0" algn="just">
              <a:lnSpc>
                <a:spcPct val="120000"/>
              </a:lnSpc>
              <a:buNone/>
            </a:pPr>
            <a:r>
              <a:rPr lang="en-US" dirty="0"/>
              <a:t>by a sequence of two target-machine instructions:</a:t>
            </a:r>
          </a:p>
          <a:p>
            <a:pPr marL="457200" lvl="1" indent="0" algn="just">
              <a:lnSpc>
                <a:spcPct val="120000"/>
              </a:lnSpc>
              <a:buNone/>
            </a:pPr>
            <a:r>
              <a:rPr lang="en-US" b="1" dirty="0"/>
              <a:t>ST </a:t>
            </a:r>
            <a:r>
              <a:rPr lang="en-US" b="1" i="1" dirty="0" err="1"/>
              <a:t>callee</a:t>
            </a:r>
            <a:r>
              <a:rPr lang="en-US" b="1" dirty="0" err="1"/>
              <a:t>.</a:t>
            </a:r>
            <a:r>
              <a:rPr lang="en-US" b="1" i="1" dirty="0" err="1"/>
              <a:t>static</a:t>
            </a:r>
            <a:r>
              <a:rPr lang="en-US" b="1" i="1" dirty="0"/>
              <a:t> Area</a:t>
            </a:r>
            <a:r>
              <a:rPr lang="en-US" b="1" dirty="0"/>
              <a:t>, #here + 20</a:t>
            </a:r>
          </a:p>
          <a:p>
            <a:pPr marL="457200" lvl="1" indent="0" algn="just">
              <a:lnSpc>
                <a:spcPct val="120000"/>
              </a:lnSpc>
              <a:buNone/>
            </a:pPr>
            <a:r>
              <a:rPr lang="en-US" b="1" dirty="0"/>
              <a:t>BR </a:t>
            </a:r>
            <a:r>
              <a:rPr lang="en-US" b="1" i="1" dirty="0" err="1"/>
              <a:t>callee</a:t>
            </a:r>
            <a:r>
              <a:rPr lang="en-US" b="1" dirty="0" err="1"/>
              <a:t>.</a:t>
            </a:r>
            <a:r>
              <a:rPr lang="en-US" b="1" i="1" dirty="0" err="1"/>
              <a:t>code</a:t>
            </a:r>
            <a:r>
              <a:rPr lang="en-US" b="1" i="1" dirty="0"/>
              <a:t> Area</a:t>
            </a:r>
          </a:p>
          <a:p>
            <a:pPr algn="just">
              <a:lnSpc>
                <a:spcPct val="120000"/>
              </a:lnSpc>
            </a:pPr>
            <a:r>
              <a:rPr lang="en-US" dirty="0"/>
              <a:t>The ST instruction saves the return address at the beginning of the activation record for </a:t>
            </a:r>
            <a:r>
              <a:rPr lang="en-US" b="1" i="1" dirty="0"/>
              <a:t>callee</a:t>
            </a:r>
            <a:r>
              <a:rPr lang="en-US" dirty="0"/>
              <a:t>, and the BR transfers control to the target code for the called procedure </a:t>
            </a:r>
            <a:r>
              <a:rPr lang="en-US" b="1" i="1" dirty="0"/>
              <a:t>callee</a:t>
            </a:r>
            <a:r>
              <a:rPr lang="en-US" dirty="0"/>
              <a:t>. </a:t>
            </a:r>
          </a:p>
          <a:p>
            <a:pPr algn="just">
              <a:lnSpc>
                <a:spcPct val="120000"/>
              </a:lnSpc>
            </a:pPr>
            <a:r>
              <a:rPr lang="en-US" dirty="0"/>
              <a:t>The attribute </a:t>
            </a:r>
            <a:r>
              <a:rPr lang="en-US" b="1" i="1" dirty="0" err="1"/>
              <a:t>callee.staticArea</a:t>
            </a:r>
            <a:r>
              <a:rPr lang="en-US" b="1" i="1" dirty="0"/>
              <a:t> </a:t>
            </a:r>
            <a:r>
              <a:rPr lang="en-US" dirty="0"/>
              <a:t>is a constant that gives the address of the beginning of the activation record for </a:t>
            </a:r>
            <a:r>
              <a:rPr lang="en-US" b="1" i="1" dirty="0"/>
              <a:t>callee</a:t>
            </a:r>
            <a:r>
              <a:rPr lang="en-US" dirty="0"/>
              <a:t>, and the attribute </a:t>
            </a:r>
            <a:r>
              <a:rPr lang="en-US" b="1" i="1" dirty="0" err="1"/>
              <a:t>callee.codeArea</a:t>
            </a:r>
            <a:r>
              <a:rPr lang="en-US" dirty="0"/>
              <a:t> is a constant referring to the address of the first instruction of the called procedure </a:t>
            </a:r>
            <a:r>
              <a:rPr lang="en-US" b="1" i="1" dirty="0"/>
              <a:t>callee</a:t>
            </a:r>
            <a:r>
              <a:rPr lang="en-US" dirty="0"/>
              <a:t> in the Code area of the run-time memory.</a:t>
            </a:r>
            <a:endParaRPr lang="en-IN" dirty="0"/>
          </a:p>
        </p:txBody>
      </p:sp>
    </p:spTree>
    <p:extLst>
      <p:ext uri="{BB962C8B-B14F-4D97-AF65-F5344CB8AC3E}">
        <p14:creationId xmlns:p14="http://schemas.microsoft.com/office/powerpoint/2010/main" val="7598703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26AEEE-6854-4E09-BCF9-D4969038ACE9}"/>
              </a:ext>
            </a:extLst>
          </p:cNvPr>
          <p:cNvSpPr>
            <a:spLocks noGrp="1"/>
          </p:cNvSpPr>
          <p:nvPr>
            <p:ph idx="1"/>
          </p:nvPr>
        </p:nvSpPr>
        <p:spPr>
          <a:xfrm>
            <a:off x="838200" y="240632"/>
            <a:ext cx="10515600" cy="5936331"/>
          </a:xfrm>
        </p:spPr>
        <p:txBody>
          <a:bodyPr>
            <a:normAutofit/>
          </a:bodyPr>
          <a:lstStyle/>
          <a:p>
            <a:pPr marL="914400" lvl="2" indent="0">
              <a:buNone/>
            </a:pPr>
            <a:endParaRPr lang="en-US" dirty="0"/>
          </a:p>
          <a:p>
            <a:pPr marL="914400" lvl="2" indent="0">
              <a:buNone/>
            </a:pPr>
            <a:endParaRPr lang="en-US" dirty="0"/>
          </a:p>
          <a:p>
            <a:pPr marL="3657600" lvl="8" indent="0">
              <a:buNone/>
            </a:pPr>
            <a:endParaRPr lang="en-US" dirty="0"/>
          </a:p>
        </p:txBody>
      </p:sp>
      <p:sp>
        <p:nvSpPr>
          <p:cNvPr id="5" name="TextBox 4">
            <a:extLst>
              <a:ext uri="{FF2B5EF4-FFF2-40B4-BE49-F238E27FC236}">
                <a16:creationId xmlns:a16="http://schemas.microsoft.com/office/drawing/2014/main" id="{1A21EC16-8525-490A-811B-9AE4AA3862E3}"/>
              </a:ext>
            </a:extLst>
          </p:cNvPr>
          <p:cNvSpPr txBox="1"/>
          <p:nvPr/>
        </p:nvSpPr>
        <p:spPr>
          <a:xfrm>
            <a:off x="6583680" y="240632"/>
            <a:ext cx="4697128" cy="6186309"/>
          </a:xfrm>
          <a:prstGeom prst="rect">
            <a:avLst/>
          </a:prstGeom>
          <a:noFill/>
        </p:spPr>
        <p:txBody>
          <a:bodyPr wrap="square" rtlCol="0">
            <a:spAutoFit/>
          </a:bodyPr>
          <a:lstStyle/>
          <a:p>
            <a:r>
              <a:rPr lang="en-IN" b="1" dirty="0"/>
              <a:t>Static allocation</a:t>
            </a:r>
          </a:p>
          <a:p>
            <a:endParaRPr lang="en-US" dirty="0"/>
          </a:p>
          <a:p>
            <a:r>
              <a:rPr lang="en-US" dirty="0"/>
              <a:t>// code for c</a:t>
            </a:r>
          </a:p>
          <a:p>
            <a:r>
              <a:rPr lang="en-US" dirty="0"/>
              <a:t>100: ACTION1 // code for action1</a:t>
            </a:r>
          </a:p>
          <a:p>
            <a:r>
              <a:rPr lang="en-US" dirty="0"/>
              <a:t>120: ST 364, #140 // save return address 140 in location 364</a:t>
            </a:r>
          </a:p>
          <a:p>
            <a:r>
              <a:rPr lang="en-US" dirty="0"/>
              <a:t>132: BR 200 // call p</a:t>
            </a:r>
          </a:p>
          <a:p>
            <a:r>
              <a:rPr lang="en-US" dirty="0"/>
              <a:t>140: ACTION2</a:t>
            </a:r>
          </a:p>
          <a:p>
            <a:r>
              <a:rPr lang="en-US" dirty="0"/>
              <a:t>160: HALT // return to operating system</a:t>
            </a:r>
          </a:p>
          <a:p>
            <a:r>
              <a:rPr lang="en-US" dirty="0"/>
              <a:t>...</a:t>
            </a:r>
          </a:p>
          <a:p>
            <a:r>
              <a:rPr lang="en-US" dirty="0"/>
              <a:t>// code for p</a:t>
            </a:r>
          </a:p>
          <a:p>
            <a:r>
              <a:rPr lang="en-US" dirty="0"/>
              <a:t>200: ACTION3</a:t>
            </a:r>
          </a:p>
          <a:p>
            <a:r>
              <a:rPr lang="en-US" dirty="0"/>
              <a:t>220: BR *364 // return to address saved in location 364</a:t>
            </a:r>
          </a:p>
          <a:p>
            <a:r>
              <a:rPr lang="en-US" dirty="0"/>
              <a:t>...</a:t>
            </a:r>
          </a:p>
          <a:p>
            <a:r>
              <a:rPr lang="en-US" dirty="0"/>
              <a:t>// 300-363 hold activation record for c</a:t>
            </a:r>
          </a:p>
          <a:p>
            <a:r>
              <a:rPr lang="en-US" dirty="0"/>
              <a:t>300: // return address</a:t>
            </a:r>
          </a:p>
          <a:p>
            <a:r>
              <a:rPr lang="en-US" dirty="0"/>
              <a:t>304: // local data for c</a:t>
            </a:r>
          </a:p>
          <a:p>
            <a:r>
              <a:rPr lang="en-US" dirty="0"/>
              <a:t>...</a:t>
            </a:r>
          </a:p>
          <a:p>
            <a:r>
              <a:rPr lang="en-US" dirty="0"/>
              <a:t>// 364-451 hold activation record for p</a:t>
            </a:r>
          </a:p>
          <a:p>
            <a:r>
              <a:rPr lang="en-US" dirty="0"/>
              <a:t>364: // return address</a:t>
            </a:r>
          </a:p>
          <a:p>
            <a:r>
              <a:rPr lang="en-US" dirty="0"/>
              <a:t>368: // local data for p</a:t>
            </a:r>
            <a:endParaRPr lang="en-IN" dirty="0"/>
          </a:p>
        </p:txBody>
      </p:sp>
      <p:sp>
        <p:nvSpPr>
          <p:cNvPr id="7" name="TextBox 6">
            <a:extLst>
              <a:ext uri="{FF2B5EF4-FFF2-40B4-BE49-F238E27FC236}">
                <a16:creationId xmlns:a16="http://schemas.microsoft.com/office/drawing/2014/main" id="{85B77234-1A30-414B-A0DA-4CEB66937C3F}"/>
              </a:ext>
            </a:extLst>
          </p:cNvPr>
          <p:cNvSpPr txBox="1"/>
          <p:nvPr/>
        </p:nvSpPr>
        <p:spPr>
          <a:xfrm>
            <a:off x="1010653" y="914400"/>
            <a:ext cx="4241533" cy="3416320"/>
          </a:xfrm>
          <a:prstGeom prst="rect">
            <a:avLst/>
          </a:prstGeom>
          <a:noFill/>
        </p:spPr>
        <p:txBody>
          <a:bodyPr wrap="square" rtlCol="0">
            <a:spAutoFit/>
          </a:bodyPr>
          <a:lstStyle/>
          <a:p>
            <a:r>
              <a:rPr lang="en-US" b="1" dirty="0"/>
              <a:t>Suppose we have the following three-address code:</a:t>
            </a:r>
          </a:p>
          <a:p>
            <a:endParaRPr lang="en-US" dirty="0"/>
          </a:p>
          <a:p>
            <a:pPr marL="914400" lvl="2" indent="0">
              <a:buNone/>
            </a:pPr>
            <a:r>
              <a:rPr lang="en-US" dirty="0"/>
              <a:t>// code for c</a:t>
            </a:r>
          </a:p>
          <a:p>
            <a:pPr marL="914400" lvl="2" indent="0">
              <a:buNone/>
            </a:pPr>
            <a:r>
              <a:rPr lang="en-US" dirty="0"/>
              <a:t>action1</a:t>
            </a:r>
          </a:p>
          <a:p>
            <a:pPr marL="914400" lvl="2" indent="0">
              <a:buNone/>
            </a:pPr>
            <a:r>
              <a:rPr lang="en-US" dirty="0"/>
              <a:t>call p</a:t>
            </a:r>
          </a:p>
          <a:p>
            <a:pPr marL="914400" lvl="2" indent="0">
              <a:buNone/>
            </a:pPr>
            <a:r>
              <a:rPr lang="en-US" dirty="0"/>
              <a:t>action2</a:t>
            </a:r>
          </a:p>
          <a:p>
            <a:pPr marL="914400" lvl="2" indent="0">
              <a:buNone/>
            </a:pPr>
            <a:r>
              <a:rPr lang="en-US" dirty="0"/>
              <a:t>halt</a:t>
            </a:r>
          </a:p>
          <a:p>
            <a:pPr marL="914400" lvl="2" indent="0">
              <a:buNone/>
            </a:pPr>
            <a:r>
              <a:rPr lang="en-US" dirty="0"/>
              <a:t>// code for p</a:t>
            </a:r>
          </a:p>
          <a:p>
            <a:pPr marL="914400" lvl="2" indent="0">
              <a:buNone/>
            </a:pPr>
            <a:r>
              <a:rPr lang="en-US" dirty="0"/>
              <a:t>action3</a:t>
            </a:r>
          </a:p>
          <a:p>
            <a:pPr marL="914400" lvl="2" indent="0">
              <a:buNone/>
            </a:pPr>
            <a:r>
              <a:rPr lang="en-US" dirty="0"/>
              <a:t>return</a:t>
            </a:r>
            <a:endParaRPr lang="en-IN" dirty="0"/>
          </a:p>
          <a:p>
            <a:endParaRPr lang="en-US" dirty="0"/>
          </a:p>
        </p:txBody>
      </p:sp>
      <mc:AlternateContent xmlns:mc="http://schemas.openxmlformats.org/markup-compatibility/2006" xmlns:p14="http://schemas.microsoft.com/office/powerpoint/2010/main">
        <mc:Choice Requires="p14">
          <p:contentPart p14:bwMode="auto" r:id="rId2">
            <p14:nvContentPartPr>
              <p14:cNvPr id="8" name="Ink 7">
                <a:extLst>
                  <a:ext uri="{FF2B5EF4-FFF2-40B4-BE49-F238E27FC236}">
                    <a16:creationId xmlns:a16="http://schemas.microsoft.com/office/drawing/2014/main" id="{D6966C01-49DE-470B-BF38-E4C0A34DB5F5}"/>
                  </a:ext>
                </a:extLst>
              </p14:cNvPr>
              <p14:cNvContentPartPr/>
              <p14:nvPr/>
            </p14:nvContentPartPr>
            <p14:xfrm>
              <a:off x="5514821" y="5283891"/>
              <a:ext cx="360" cy="360"/>
            </p14:xfrm>
          </p:contentPart>
        </mc:Choice>
        <mc:Fallback xmlns="">
          <p:pic>
            <p:nvPicPr>
              <p:cNvPr id="8" name="Ink 7">
                <a:extLst>
                  <a:ext uri="{FF2B5EF4-FFF2-40B4-BE49-F238E27FC236}">
                    <a16:creationId xmlns:a16="http://schemas.microsoft.com/office/drawing/2014/main" id="{D6966C01-49DE-470B-BF38-E4C0A34DB5F5}"/>
                  </a:ext>
                </a:extLst>
              </p:cNvPr>
              <p:cNvPicPr/>
              <p:nvPr/>
            </p:nvPicPr>
            <p:blipFill>
              <a:blip r:embed="rId3"/>
              <a:stretch>
                <a:fillRect/>
              </a:stretch>
            </p:blipFill>
            <p:spPr>
              <a:xfrm>
                <a:off x="5505821" y="5275251"/>
                <a:ext cx="18000" cy="18000"/>
              </a:xfrm>
              <a:prstGeom prst="rect">
                <a:avLst/>
              </a:prstGeom>
            </p:spPr>
          </p:pic>
        </mc:Fallback>
      </mc:AlternateContent>
    </p:spTree>
    <p:extLst>
      <p:ext uri="{BB962C8B-B14F-4D97-AF65-F5344CB8AC3E}">
        <p14:creationId xmlns:p14="http://schemas.microsoft.com/office/powerpoint/2010/main" val="5851878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917450-70C4-4FEE-999C-FA53A9E75E70}"/>
              </a:ext>
            </a:extLst>
          </p:cNvPr>
          <p:cNvSpPr>
            <a:spLocks noGrp="1"/>
          </p:cNvSpPr>
          <p:nvPr>
            <p:ph idx="1"/>
          </p:nvPr>
        </p:nvSpPr>
        <p:spPr/>
        <p:txBody>
          <a:bodyPr/>
          <a:lstStyle/>
          <a:p>
            <a:pPr marL="0" indent="0">
              <a:buNone/>
            </a:pPr>
            <a:r>
              <a:rPr lang="en-US" dirty="0"/>
              <a:t>2. Stack Allocation</a:t>
            </a:r>
          </a:p>
          <a:p>
            <a:pPr marL="0" indent="0">
              <a:buNone/>
            </a:pPr>
            <a:r>
              <a:rPr lang="en-US" dirty="0"/>
              <a:t>3. Run-Time Addresses for Names </a:t>
            </a:r>
          </a:p>
          <a:p>
            <a:pPr marL="0" indent="0">
              <a:buNone/>
            </a:pPr>
            <a:r>
              <a:rPr lang="en-US" dirty="0"/>
              <a:t>Both to be referred from the book. Rest everything is covered in the partial delivery done by sir.</a:t>
            </a:r>
            <a:endParaRPr lang="en-IN" dirty="0"/>
          </a:p>
        </p:txBody>
      </p:sp>
    </p:spTree>
    <p:extLst>
      <p:ext uri="{BB962C8B-B14F-4D97-AF65-F5344CB8AC3E}">
        <p14:creationId xmlns:p14="http://schemas.microsoft.com/office/powerpoint/2010/main" val="89563872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380</TotalTime>
  <Words>1403</Words>
  <Application>Microsoft Office PowerPoint</Application>
  <PresentationFormat>Widescreen</PresentationFormat>
  <Paragraphs>139</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Times New Roman</vt:lpstr>
      <vt:lpstr>Office Theme</vt:lpstr>
      <vt:lpstr>CODE GENERATION</vt:lpstr>
      <vt:lpstr>Outline</vt:lpstr>
      <vt:lpstr>Introduction</vt:lpstr>
      <vt:lpstr>Issues in the design of Code Generator </vt:lpstr>
      <vt:lpstr>Issues in the design of Code Generator </vt:lpstr>
      <vt:lpstr>Issues in the design of Code Generator </vt:lpstr>
      <vt:lpstr>The Target Language</vt:lpstr>
      <vt:lpstr>The Target Language</vt:lpstr>
      <vt:lpstr>The Target Language</vt:lpstr>
      <vt:lpstr>Examples:</vt:lpstr>
      <vt:lpstr>Addresses in the Target Code</vt:lpstr>
      <vt:lpstr>Static Allocation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CODE GENERATION</dc:title>
  <dc:creator>Sneha M</dc:creator>
  <cp:lastModifiedBy>Sneha M</cp:lastModifiedBy>
  <cp:revision>18</cp:revision>
  <dcterms:created xsi:type="dcterms:W3CDTF">2021-07-07T04:54:28Z</dcterms:created>
  <dcterms:modified xsi:type="dcterms:W3CDTF">2021-08-01T11:49:05Z</dcterms:modified>
</cp:coreProperties>
</file>